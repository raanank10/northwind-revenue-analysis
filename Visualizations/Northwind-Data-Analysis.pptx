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56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3.jp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0" y="2468880"/>
            <a:ext cx="5486400" cy="3291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760101"/>
            <a:ext cx="782308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Optimizing Northwind: Recovering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$88.8K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At-Risk Revenue</a:t>
            </a:r>
          </a:p>
        </p:txBody>
      </p:sp>
      <p:sp>
        <p:nvSpPr>
          <p:cNvPr id="6" name="Text 2"/>
          <p:cNvSpPr/>
          <p:nvPr/>
        </p:nvSpPr>
        <p:spPr>
          <a:xfrm>
            <a:off x="793790" y="50519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Strategic insights to improve profitability for a global wholesale food distributor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5D6CCBD-303B-E7E9-0333-E646CD709D9C}"/>
              </a:ext>
            </a:extLst>
          </p:cNvPr>
          <p:cNvGrpSpPr/>
          <p:nvPr/>
        </p:nvGrpSpPr>
        <p:grpSpPr>
          <a:xfrm>
            <a:off x="867373" y="1211305"/>
            <a:ext cx="1104186" cy="426244"/>
            <a:chOff x="793789" y="411304"/>
            <a:chExt cx="1104186" cy="426244"/>
          </a:xfrm>
        </p:grpSpPr>
        <p:sp>
          <p:nvSpPr>
            <p:cNvPr id="2" name="Shape 0"/>
            <p:cNvSpPr/>
            <p:nvPr/>
          </p:nvSpPr>
          <p:spPr>
            <a:xfrm>
              <a:off x="793789" y="411304"/>
              <a:ext cx="1104186" cy="426244"/>
            </a:xfrm>
            <a:prstGeom prst="roundRect">
              <a:avLst>
                <a:gd name="adj" fmla="val 6386"/>
              </a:avLst>
            </a:prstGeom>
            <a:solidFill>
              <a:srgbClr val="4D0038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93790" y="470181"/>
              <a:ext cx="832009" cy="2902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OVERVIEW</a:t>
              </a:r>
              <a:endParaRPr lang="en-US" sz="14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67373" y="22119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Project Scope</a:t>
            </a:r>
            <a:endParaRPr lang="en-US" sz="44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DD4077-2029-0156-8A0D-256539E1FAFC}"/>
              </a:ext>
            </a:extLst>
          </p:cNvPr>
          <p:cNvGrpSpPr/>
          <p:nvPr/>
        </p:nvGrpSpPr>
        <p:grpSpPr>
          <a:xfrm>
            <a:off x="793849" y="4495850"/>
            <a:ext cx="13042701" cy="2032754"/>
            <a:chOff x="793790" y="3881318"/>
            <a:chExt cx="13042701" cy="2032754"/>
          </a:xfrm>
        </p:grpSpPr>
        <p:sp>
          <p:nvSpPr>
            <p:cNvPr id="5" name="Shape 3"/>
            <p:cNvSpPr/>
            <p:nvPr/>
          </p:nvSpPr>
          <p:spPr>
            <a:xfrm>
              <a:off x="793790" y="3881318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2E2E2F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020604" y="410813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Mission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20604" y="4598551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Analyze </a:t>
              </a:r>
              <a:r>
                <a:rPr lang="en-US" sz="1750" b="1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Northwind's digital store </a:t>
              </a: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data to generate actionable insights for the board</a:t>
              </a:r>
              <a:endParaRPr lang="en-US" sz="17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216962" y="3881318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2E2E2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5443776" y="410813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Focus Areas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443776" y="4598551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Product pricing, customer segmentation, and logistics performance</a:t>
              </a:r>
              <a:endParaRPr lang="en-US" sz="17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640133" y="3881318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2E2E2F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9866948" y="410813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Goal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866948" y="4598551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Drive </a:t>
              </a:r>
              <a:r>
                <a:rPr lang="en-US" sz="1750" b="1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strategic decisions </a:t>
              </a: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to </a:t>
              </a:r>
              <a:r>
                <a:rPr lang="en-US" sz="1750" b="1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boost profitability</a:t>
              </a: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 and operational efficiency</a:t>
              </a:r>
              <a:endParaRPr lang="en-US" sz="17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0297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Three Research Questions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27874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Mono Light" pitchFamily="34" charset="-122"/>
                <a:cs typeface="Arial" panose="020B0604020202020204" pitchFamily="34" charset="0"/>
              </a:rPr>
              <a:t>01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793790" y="3142536"/>
            <a:ext cx="3664744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8" name="Text 4"/>
          <p:cNvSpPr/>
          <p:nvPr/>
        </p:nvSpPr>
        <p:spPr>
          <a:xfrm>
            <a:off x="793790" y="3316843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Product Portfolio &amp; Pricing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3790" y="3813489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Which categories drive profit vs. drain margins through excessive discounting?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685348" y="27874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Mono Light" pitchFamily="34" charset="-122"/>
                <a:cs typeface="Arial" panose="020B0604020202020204" pitchFamily="34" charset="0"/>
              </a:rPr>
              <a:t>02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4685348" y="3142536"/>
            <a:ext cx="3664863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2" name="Text 8"/>
          <p:cNvSpPr/>
          <p:nvPr/>
        </p:nvSpPr>
        <p:spPr>
          <a:xfrm>
            <a:off x="4685348" y="3316843"/>
            <a:ext cx="35705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85348" y="3807262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Who are our most valuable customers and which regions show declining sales?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93790" y="526033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Mono Light" pitchFamily="34" charset="-122"/>
                <a:cs typeface="Arial" panose="020B0604020202020204" pitchFamily="34" charset="0"/>
              </a:rPr>
              <a:t>03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615380"/>
            <a:ext cx="7556421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6" name="Text 12"/>
          <p:cNvSpPr/>
          <p:nvPr/>
        </p:nvSpPr>
        <p:spPr>
          <a:xfrm>
            <a:off x="793790" y="5789687"/>
            <a:ext cx="3060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Logistics &amp; Talent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93790" y="628010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Where are fulfillment bottlenecks and who are our top sales performers?</a:t>
            </a:r>
            <a:endParaRPr lang="en-US" sz="175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602378C9-5590-4DDB-7937-46530F069E34}"/>
              </a:ext>
            </a:extLst>
          </p:cNvPr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</p:sp>
      <p:pic>
        <p:nvPicPr>
          <p:cNvPr id="20" name="Image 1">
            <a:extLst>
              <a:ext uri="{FF2B5EF4-FFF2-40B4-BE49-F238E27FC236}">
                <a16:creationId xmlns:a16="http://schemas.microsoft.com/office/drawing/2014/main" id="{798DC89A-F0B9-8706-1387-7071299D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2468880"/>
            <a:ext cx="5486400" cy="3291840"/>
          </a:xfrm>
          <a:prstGeom prst="rect">
            <a:avLst/>
          </a:prstGeom>
        </p:spPr>
      </p:pic>
      <p:pic>
        <p:nvPicPr>
          <p:cNvPr id="21" name="Graphic 20" descr="Tag">
            <a:extLst>
              <a:ext uri="{FF2B5EF4-FFF2-40B4-BE49-F238E27FC236}">
                <a16:creationId xmlns:a16="http://schemas.microsoft.com/office/drawing/2014/main" id="{5B851E15-8FD3-9045-F419-BE342BBF8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4828" y="4502631"/>
            <a:ext cx="914400" cy="914400"/>
          </a:xfrm>
          <a:prstGeom prst="rect">
            <a:avLst/>
          </a:prstGeom>
        </p:spPr>
      </p:pic>
      <p:pic>
        <p:nvPicPr>
          <p:cNvPr id="23" name="Graphic 22" descr="Globe">
            <a:extLst>
              <a:ext uri="{FF2B5EF4-FFF2-40B4-BE49-F238E27FC236}">
                <a16:creationId xmlns:a16="http://schemas.microsoft.com/office/drawing/2014/main" id="{2598D643-F1B3-1B05-663E-CB8532A3B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4561799"/>
            <a:ext cx="914400" cy="914400"/>
          </a:xfrm>
          <a:prstGeom prst="rect">
            <a:avLst/>
          </a:prstGeom>
        </p:spPr>
      </p:pic>
      <p:pic>
        <p:nvPicPr>
          <p:cNvPr id="25" name="Graphic 24" descr="Truck">
            <a:extLst>
              <a:ext uri="{FF2B5EF4-FFF2-40B4-BE49-F238E27FC236}">
                <a16:creationId xmlns:a16="http://schemas.microsoft.com/office/drawing/2014/main" id="{1A0430D4-58BE-DE11-C25B-797A13012A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7762" y="5558471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57832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The Discount Trap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638943" y="2454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Critical Finding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35975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Meat/Poultry has the highest discount rate (6.45%) but $45K less profit than Beverages. We're giving away margin on premium items.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4742736"/>
            <a:ext cx="4205168" cy="2052518"/>
          </a:xfrm>
          <a:prstGeom prst="roundRect">
            <a:avLst>
              <a:gd name="adj" fmla="val 1658"/>
            </a:avLst>
          </a:prstGeom>
          <a:solidFill>
            <a:srgbClr val="4D003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757" y="507920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76059" y="5026223"/>
            <a:ext cx="324123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Beverages proves discounts can work: 6.19% discount drives volume while maintaining top profit position.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279417-5390-0FB3-41D8-3ADA0B93A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30" y="2248347"/>
            <a:ext cx="8864783" cy="4837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0" y="0"/>
            <a:ext cx="45719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793790" y="13337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Meat Category Deep Dive</a:t>
            </a:r>
            <a:endParaRPr lang="en-US" sz="3800" dirty="0">
              <a:solidFill>
                <a:schemeClr val="bg1"/>
              </a:solidFill>
              <a:latin typeface="Arial" panose="020B0604020202020204" pitchFamily="34" charset="0"/>
              <a:ea typeface="Fira Mono Medium" pitchFamily="34" charset="-122"/>
              <a:cs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r>
              <a:rPr lang="en-US" sz="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(The "Good, Bad, &amp; Ugly“)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629417-6353-197A-07E4-59A7ADFE842B}"/>
              </a:ext>
            </a:extLst>
          </p:cNvPr>
          <p:cNvGrpSpPr/>
          <p:nvPr/>
        </p:nvGrpSpPr>
        <p:grpSpPr>
          <a:xfrm>
            <a:off x="3407092" y="3093957"/>
            <a:ext cx="2329815" cy="3691057"/>
            <a:chOff x="793790" y="3204805"/>
            <a:chExt cx="2329815" cy="3691057"/>
          </a:xfrm>
        </p:grpSpPr>
        <p:sp>
          <p:nvSpPr>
            <p:cNvPr id="6" name="Text 2"/>
            <p:cNvSpPr/>
            <p:nvPr/>
          </p:nvSpPr>
          <p:spPr>
            <a:xfrm>
              <a:off x="793790" y="3204805"/>
              <a:ext cx="2329815" cy="7484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58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10%</a:t>
              </a:r>
              <a:endParaRPr lang="en-US" sz="58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793790" y="4236601"/>
              <a:ext cx="2329815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Mishi Kobe Niku</a:t>
              </a:r>
              <a:endParaRPr lang="en-US" sz="22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793790" y="5081349"/>
              <a:ext cx="2329815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Highest discount on luxury item—unnecessarily eroding profit on premium inventory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4AB484-7DAB-8DE6-C3C3-891D2B3B8313}"/>
              </a:ext>
            </a:extLst>
          </p:cNvPr>
          <p:cNvGrpSpPr/>
          <p:nvPr/>
        </p:nvGrpSpPr>
        <p:grpSpPr>
          <a:xfrm>
            <a:off x="793789" y="3204805"/>
            <a:ext cx="2329815" cy="3328154"/>
            <a:chOff x="3407093" y="3204805"/>
            <a:chExt cx="2329815" cy="3328154"/>
          </a:xfrm>
        </p:grpSpPr>
        <p:sp>
          <p:nvSpPr>
            <p:cNvPr id="9" name="Text 5"/>
            <p:cNvSpPr/>
            <p:nvPr/>
          </p:nvSpPr>
          <p:spPr>
            <a:xfrm>
              <a:off x="3407093" y="3204805"/>
              <a:ext cx="2329815" cy="7484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850"/>
                </a:lnSpc>
                <a:buNone/>
              </a:pPr>
              <a:r>
                <a:rPr lang="en-US" sz="58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$46</a:t>
              </a:r>
              <a:endParaRPr lang="en-US" sz="58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407093" y="4236601"/>
              <a:ext cx="2329815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Thüringer Rostbratwurst</a:t>
              </a:r>
              <a:endParaRPr lang="en-US" sz="22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3407093" y="5081349"/>
              <a:ext cx="2329815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Profit per unit—the category anchor generating $34K total with healthy margins</a:t>
              </a:r>
              <a:endParaRPr lang="en-US" sz="1750" dirty="0"/>
            </a:p>
          </p:txBody>
        </p:sp>
      </p:grpSp>
      <p:sp>
        <p:nvSpPr>
          <p:cNvPr id="12" name="Text 8"/>
          <p:cNvSpPr/>
          <p:nvPr/>
        </p:nvSpPr>
        <p:spPr>
          <a:xfrm>
            <a:off x="6020395" y="320480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$2</a:t>
            </a:r>
            <a:endParaRPr lang="en-US" sz="5850" dirty="0"/>
          </a:p>
        </p:txBody>
      </p:sp>
      <p:sp>
        <p:nvSpPr>
          <p:cNvPr id="13" name="Text 9"/>
          <p:cNvSpPr/>
          <p:nvPr/>
        </p:nvSpPr>
        <p:spPr>
          <a:xfrm>
            <a:off x="6020395" y="423660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Tourtière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020395" y="472701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Profit per unit—occupying valuable warehouse space with minimal return</a:t>
            </a:r>
            <a:endParaRPr lang="en-US" sz="175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0E04BE13-4E7A-DF45-31FA-BA680752BBF9}"/>
              </a:ext>
            </a:extLst>
          </p:cNvPr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</p:sp>
      <p:pic>
        <p:nvPicPr>
          <p:cNvPr id="16" name="Image 1">
            <a:extLst>
              <a:ext uri="{FF2B5EF4-FFF2-40B4-BE49-F238E27FC236}">
                <a16:creationId xmlns:a16="http://schemas.microsoft.com/office/drawing/2014/main" id="{71522902-6AD7-5ADC-3FA7-16FA01F67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246888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88802"/>
            <a:ext cx="8777168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Customer Value Concentration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9629299" y="2023348"/>
            <a:ext cx="297668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Top Revenue Drivers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29299" y="2542342"/>
            <a:ext cx="4277082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Three customers generate over $100K each in lifetime value: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29299" y="3358277"/>
            <a:ext cx="4277082" cy="192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QUICK-Stop (Germany): $110K, 6.92% discount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Ernst Handel (Austria): $105K, 6.81% discount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Save-a-lot Markets (USA): $104K, 8.28% discount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29299" y="5502709"/>
            <a:ext cx="4277082" cy="1486376"/>
          </a:xfrm>
          <a:prstGeom prst="roundRect">
            <a:avLst>
              <a:gd name="adj" fmla="val 2109"/>
            </a:avLst>
          </a:prstGeom>
          <a:solidFill>
            <a:srgbClr val="4D003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253" y="5809533"/>
            <a:ext cx="261223" cy="208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08431" y="5747382"/>
            <a:ext cx="3388995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Geographic strongholds: Western Europe, North America, and emerging Brazil market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3D36A4-46AB-6B86-1663-155E2D525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37" y="1541979"/>
            <a:ext cx="8949295" cy="57988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Revenue Trends &amp; Warning Signs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1048941" y="3472696"/>
            <a:ext cx="30480" cy="3041809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7" name="Shape 3"/>
          <p:cNvSpPr/>
          <p:nvPr/>
        </p:nvSpPr>
        <p:spPr>
          <a:xfrm>
            <a:off x="1273612" y="371260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8" name="Shape 4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9" name="Text 5"/>
          <p:cNvSpPr/>
          <p:nvPr/>
        </p:nvSpPr>
        <p:spPr>
          <a:xfrm>
            <a:off x="878860" y="35152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2183011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1998-Q1 Peak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183011" y="4040981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Massive revenue spike across all regions—investigate and replicate this success formula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1273612" y="5460325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474748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E2E2F"/>
          </a:solidFill>
          <a:ln/>
        </p:spPr>
      </p:sp>
      <p:sp>
        <p:nvSpPr>
          <p:cNvPr id="14" name="Text 10"/>
          <p:cNvSpPr/>
          <p:nvPr/>
        </p:nvSpPr>
        <p:spPr>
          <a:xfrm>
            <a:off x="878860" y="52629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2183011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1998-Q2 Decline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183011" y="5788700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Sharp downturn following peak—systemic slowdown requiring immediate VIP outreach</a:t>
            </a:r>
            <a:endParaRPr lang="en-US" sz="175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7A5303DD-8137-5674-67E5-31A54574C14C}"/>
              </a:ext>
            </a:extLst>
          </p:cNvPr>
          <p:cNvSpPr/>
          <p:nvPr/>
        </p:nvSpPr>
        <p:spPr>
          <a:xfrm>
            <a:off x="8463201" y="0"/>
            <a:ext cx="6167199" cy="82296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1BF0E0-ED9A-2921-A24E-88FFA5992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201" y="2491355"/>
            <a:ext cx="6167199" cy="3299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2063"/>
            <a:ext cx="6463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The Shipping Crisis</a:t>
            </a:r>
            <a:endParaRPr lang="en-US" sz="4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9330" y="4936359"/>
            <a:ext cx="231719" cy="231719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1004" y="4941273"/>
            <a:ext cx="231719" cy="231719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91004" y="3410273"/>
            <a:ext cx="231719" cy="23171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05E8951-9316-F614-93FE-979F8D83D10F}"/>
              </a:ext>
            </a:extLst>
          </p:cNvPr>
          <p:cNvGrpSpPr/>
          <p:nvPr/>
        </p:nvGrpSpPr>
        <p:grpSpPr>
          <a:xfrm>
            <a:off x="6106862" y="186235"/>
            <a:ext cx="6587161" cy="3672562"/>
            <a:chOff x="793790" y="2566154"/>
            <a:chExt cx="8284131" cy="4146113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3790" y="2566154"/>
              <a:ext cx="8284131" cy="414611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831120" y="4348528"/>
              <a:ext cx="1555827" cy="465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Slower Transit</a:t>
              </a:r>
              <a:endParaRPr lang="en-US" sz="14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006652" y="6359258"/>
              <a:ext cx="1862027" cy="2327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Low Reliability</a:t>
              </a:r>
              <a:endParaRPr lang="en-US" sz="14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476487" y="4348528"/>
              <a:ext cx="1555827" cy="465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Faster Transit</a:t>
              </a:r>
              <a:endParaRPr lang="en-US" sz="14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4001997" y="2736323"/>
              <a:ext cx="1862027" cy="2327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5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High Reliability</a:t>
              </a:r>
              <a:endParaRPr lang="en-US" sz="14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065552" y="3848727"/>
              <a:ext cx="1597206" cy="3724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50"/>
                </a:lnSpc>
                <a:buNone/>
              </a:pPr>
              <a:r>
                <a:rPr lang="en-US" sz="11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Federal Shipping — 6 days, 337 orders</a:t>
              </a:r>
              <a:endParaRPr lang="en-US" sz="11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5308260" y="5352988"/>
              <a:ext cx="1597206" cy="558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50"/>
                </a:lnSpc>
                <a:buNone/>
              </a:pPr>
              <a:r>
                <a:rPr lang="en-US" sz="11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Opportunity — Shift volume to faster shippers</a:t>
              </a:r>
              <a:endParaRPr lang="en-US" sz="11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5273133" y="3832597"/>
              <a:ext cx="1597206" cy="3724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50"/>
                </a:lnSpc>
                <a:buNone/>
              </a:pPr>
              <a:r>
                <a:rPr lang="en-US" sz="11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Speedy Express — 9 days, moderate volume</a:t>
              </a:r>
              <a:endParaRPr lang="en-US" sz="115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2950727" y="5603612"/>
              <a:ext cx="1597205" cy="3724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50"/>
                </a:lnSpc>
                <a:buNone/>
              </a:pPr>
              <a:r>
                <a:rPr lang="en-US" sz="11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United Package — 13 days, 458 orders</a:t>
              </a:r>
              <a:endParaRPr lang="en-US" sz="1150" dirty="0"/>
            </a:p>
          </p:txBody>
        </p:sp>
      </p:grp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48296" y="3410273"/>
            <a:ext cx="231719" cy="23171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022E753-726B-CCDA-6510-93D6BA97DB77}"/>
              </a:ext>
            </a:extLst>
          </p:cNvPr>
          <p:cNvGrpSpPr/>
          <p:nvPr/>
        </p:nvGrpSpPr>
        <p:grpSpPr>
          <a:xfrm>
            <a:off x="10124515" y="3410274"/>
            <a:ext cx="4134207" cy="4378262"/>
            <a:chOff x="9475589" y="2311003"/>
            <a:chExt cx="4531876" cy="4656415"/>
          </a:xfrm>
        </p:grpSpPr>
        <p:sp>
          <p:nvSpPr>
            <p:cNvPr id="16" name="Shape 9"/>
            <p:cNvSpPr/>
            <p:nvPr/>
          </p:nvSpPr>
          <p:spPr>
            <a:xfrm>
              <a:off x="9475589" y="2311003"/>
              <a:ext cx="4531876" cy="4656415"/>
            </a:xfrm>
            <a:prstGeom prst="roundRect">
              <a:avLst>
                <a:gd name="adj" fmla="val 751"/>
              </a:avLst>
            </a:prstGeom>
            <a:solidFill>
              <a:srgbClr val="FF6BD8"/>
            </a:solidFill>
            <a:ln/>
          </p:spPr>
        </p:sp>
        <p:sp>
          <p:nvSpPr>
            <p:cNvPr id="17" name="Text 10"/>
            <p:cNvSpPr/>
            <p:nvPr/>
          </p:nvSpPr>
          <p:spPr>
            <a:xfrm>
              <a:off x="9702403" y="2701791"/>
              <a:ext cx="3230523" cy="354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000000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Critical Bottleneck</a:t>
              </a:r>
              <a:endParaRPr lang="en-US" sz="2200" dirty="0"/>
            </a:p>
          </p:txBody>
        </p:sp>
        <p:sp>
          <p:nvSpPr>
            <p:cNvPr id="18" name="Text 11"/>
            <p:cNvSpPr/>
            <p:nvPr/>
          </p:nvSpPr>
          <p:spPr>
            <a:xfrm>
              <a:off x="9702403" y="3285411"/>
              <a:ext cx="4078248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United Package delivers 458 orders at 10-day lead time</a:t>
              </a:r>
              <a:r>
                <a:rPr lang="he-IL" sz="1750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-  </a:t>
              </a:r>
              <a:r>
                <a:rPr lang="en-US" sz="1750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our largest volume through our slowest shipper.</a:t>
              </a:r>
              <a:endParaRPr lang="en-US" sz="1750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9702403" y="4578191"/>
              <a:ext cx="4078248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Federal Shipping proves reliability: 337 orders in 7.25 days with another 226 in 5.75 days.</a:t>
              </a:r>
              <a:endParaRPr lang="en-US" sz="1750" dirty="0"/>
            </a:p>
          </p:txBody>
        </p:sp>
        <p:sp>
          <p:nvSpPr>
            <p:cNvPr id="20" name="Text 13"/>
            <p:cNvSpPr/>
            <p:nvPr/>
          </p:nvSpPr>
          <p:spPr>
            <a:xfrm>
              <a:off x="9702403" y="5870972"/>
              <a:ext cx="4078248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$88.8K revenue at risk (7.2%)</a:t>
              </a:r>
              <a:r>
                <a:rPr lang="en-US" sz="1750" dirty="0">
                  <a:solidFill>
                    <a:srgbClr val="000000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 from delays exceeding 9 days.</a:t>
              </a:r>
              <a:endParaRPr lang="en-US" sz="1750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A92CB34-3130-4D04-AB22-1149DF443F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678" y="3359379"/>
            <a:ext cx="6943522" cy="37738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332"/>
            <a:ext cx="6463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Sales Talent Matrix</a:t>
            </a:r>
            <a:endParaRPr lang="en-US" sz="44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CCB1FE-DF63-B23F-4F51-C02A0FDCD0CD}"/>
              </a:ext>
            </a:extLst>
          </p:cNvPr>
          <p:cNvGrpSpPr/>
          <p:nvPr/>
        </p:nvGrpSpPr>
        <p:grpSpPr>
          <a:xfrm>
            <a:off x="735926" y="6200782"/>
            <a:ext cx="13042820" cy="1579127"/>
            <a:chOff x="793790" y="5254109"/>
            <a:chExt cx="13042820" cy="1579127"/>
          </a:xfrm>
        </p:grpSpPr>
        <p:sp>
          <p:nvSpPr>
            <p:cNvPr id="6" name="Text 3"/>
            <p:cNvSpPr/>
            <p:nvPr/>
          </p:nvSpPr>
          <p:spPr>
            <a:xfrm>
              <a:off x="793790" y="525410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Revenue Stars</a:t>
              </a:r>
              <a:endParaRPr lang="en-US" sz="2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93790" y="5744528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Janet Leverling &amp; Nancy Davolio: High volume + high AOV. Use as training models.</a:t>
              </a:r>
              <a:endParaRPr lang="en-US" sz="175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5235893" y="525410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Premium Closers</a:t>
              </a:r>
              <a:endParaRPr lang="en-US" sz="22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5235893" y="5744528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Anne Dodsworth &amp; Robert King: $1,800+ AOV. Assign to whale customers and star products.</a:t>
              </a:r>
              <a:endParaRPr lang="en-US" sz="175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9677995" y="5254109"/>
              <a:ext cx="3230523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E0D6DE"/>
                  </a:solidFill>
                  <a:latin typeface="Arial" panose="020B0604020202020204" pitchFamily="34" charset="0"/>
                  <a:ea typeface="Fira Mono Medium" pitchFamily="34" charset="-122"/>
                  <a:cs typeface="Fira Mono Medium" pitchFamily="34" charset="-120"/>
                </a:rPr>
                <a:t>Operational Engines</a:t>
              </a:r>
              <a:endParaRPr lang="en-US" sz="22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9677995" y="5744528"/>
              <a:ext cx="4158615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0D6DE"/>
                  </a:solidFill>
                  <a:latin typeface="Arial" panose="020B0604020202020204" pitchFamily="34" charset="0"/>
                  <a:ea typeface="Fira Sans" pitchFamily="34" charset="-122"/>
                  <a:cs typeface="Arial" panose="020B0604020202020204" pitchFamily="34" charset="0"/>
                </a:rPr>
                <a:t>Laura Callahan: 250+ orders but lower AOV. Needs cross-selling and upselling training.</a:t>
              </a:r>
              <a:endParaRPr lang="en-US" sz="175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EBF8D28-3047-DD5B-54B1-533D02A6F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13" y="984111"/>
            <a:ext cx="8740374" cy="4841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8504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Protect Margins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Cap Meat/Poultry discounts at 5.5%. Freeze luxury item discounts (Mishi Kobe Niku).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Fix Logistics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Route orders over $1,800 AOV to Federal Shipping. Renegotiate United Package contract.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Retain VIPs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Launch outreach program for top 10 customers. Address Q2 revenue decline immediately.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90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rial" panose="020B0604020202020204" pitchFamily="34" charset="0"/>
                <a:ea typeface="Fira Mono Medium" pitchFamily="34" charset="-122"/>
                <a:cs typeface="Fira Mono Medium" pitchFamily="34" charset="-120"/>
              </a:rPr>
              <a:t>Replicate Success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Arial" panose="020B0604020202020204" pitchFamily="34" charset="0"/>
                <a:ea typeface="Fira Sans" pitchFamily="34" charset="-122"/>
                <a:cs typeface="Arial" panose="020B0604020202020204" pitchFamily="34" charset="0"/>
              </a:rPr>
              <a:t>Investigate 1998-Q1 spike factors. Apply learnings to upcoming quarters.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549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Raanan kelner</dc:creator>
  <cp:lastModifiedBy>Raanan kelner</cp:lastModifiedBy>
  <cp:revision>9</cp:revision>
  <dcterms:created xsi:type="dcterms:W3CDTF">2026-02-11T11:29:44Z</dcterms:created>
  <dcterms:modified xsi:type="dcterms:W3CDTF">2026-02-11T15:05:26Z</dcterms:modified>
</cp:coreProperties>
</file>